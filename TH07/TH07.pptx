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Lớp 0 – Không bệnh (65.19%)</c:v>
                </c:pt>
                <c:pt idx="1">
                  <c:v>Lớp 1 – Có bệnh (34.81%)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</c:v>
                </c:pt>
                <c:pt idx="1">
                  <c:v>267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a0f2bca-6d50-46f4-b452-778e6db10eb4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mẫu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Outcome=0
(Không bệnh)</c:v>
                </c:pt>
                <c:pt idx="1">
                  <c:v>Outcome=1
(Có bệnh)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</c:v>
                </c:pt>
                <c:pt idx="1">
                  <c:v>267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8678357-37d7-4705-901a-e71bd58f3f6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Accuracy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59B6"/>
              </a:solidFill>
              <a:effectLst/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LR</c:v>
                </c:pt>
                <c:pt idx="1">
                  <c:v>DT</c:v>
                </c:pt>
                <c:pt idx="2">
                  <c:v>RF</c:v>
                </c:pt>
                <c:pt idx="3">
                  <c:v>SVM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0.7548</c:v>
                </c:pt>
                <c:pt idx="1">
                  <c:v>0.6847</c:v>
                </c:pt>
                <c:pt idx="2">
                  <c:v>0.7665</c:v>
                </c:pt>
                <c:pt idx="3">
                  <c:v>0.7762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5"/>
        </c:scaling>
        <c:delete val="0"/>
        <c:axPos val="l"/>
        <c:majorGridlines>
          <c:spPr>
            <a:ln w="12700" cap="flat" cmpd="sng" algn="ctr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07ebe2a-8d8d-4147-ac5d-1164f68fb7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LR</c:v>
                </c:pt>
                <c:pt idx="1">
                  <c:v>DT</c:v>
                </c:pt>
                <c:pt idx="2">
                  <c:v>RF</c:v>
                </c:pt>
                <c:pt idx="3">
                  <c:v>SVM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0.6528</c:v>
                </c:pt>
                <c:pt idx="1">
                  <c:v>0.5529</c:v>
                </c:pt>
                <c:pt idx="2">
                  <c:v>0.618</c:v>
                </c:pt>
                <c:pt idx="3">
                  <c:v>0.6806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LR</c:v>
                </c:pt>
                <c:pt idx="1">
                  <c:v>DT</c:v>
                </c:pt>
                <c:pt idx="2">
                  <c:v>RF</c:v>
                </c:pt>
                <c:pt idx="3">
                  <c:v>SVM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0.8247</c:v>
                </c:pt>
                <c:pt idx="1">
                  <c:v>0.661</c:v>
                </c:pt>
                <c:pt idx="2">
                  <c:v>0.8159</c:v>
                </c:pt>
                <c:pt idx="3">
                  <c:v>0.8389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12700" cap="flat" cmpd="sng" algn="ctr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ec60f9-162f-4367-b48c-b9a09c103cf7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LR</c:v>
                </c:pt>
                <c:pt idx="1">
                  <c:v>DT</c:v>
                </c:pt>
                <c:pt idx="2">
                  <c:v>RF</c:v>
                </c:pt>
                <c:pt idx="3">
                  <c:v>SVM</c:v>
                </c:pt>
                <c:pt idx="4">
                  <c:v>RF Tuned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0.7079</c:v>
                </c:pt>
                <c:pt idx="1">
                  <c:v>0.5281</c:v>
                </c:pt>
                <c:pt idx="2">
                  <c:v>0.618</c:v>
                </c:pt>
                <c:pt idx="3">
                  <c:v>0.7303</c:v>
                </c:pt>
                <c:pt idx="4">
                  <c:v>0.7753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LR</c:v>
                </c:pt>
                <c:pt idx="1">
                  <c:v>DT</c:v>
                </c:pt>
                <c:pt idx="2">
                  <c:v>RF</c:v>
                </c:pt>
                <c:pt idx="3">
                  <c:v>SVM</c:v>
                </c:pt>
                <c:pt idx="4">
                  <c:v>RF Tuned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0.8247</c:v>
                </c:pt>
                <c:pt idx="1">
                  <c:v>0.661</c:v>
                </c:pt>
                <c:pt idx="2">
                  <c:v>0.8159</c:v>
                </c:pt>
                <c:pt idx="3">
                  <c:v>0.8389</c:v>
                </c:pt>
                <c:pt idx="4">
                  <c:v>0.8455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12700" cap="flat" cmpd="sng" algn="ctr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db79a3f-b552-4a0e-98a6-a42b3675de9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Impurity Importance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Pregnancies</c:v>
                </c:pt>
                <c:pt idx="1">
                  <c:v>Insulin</c:v>
                </c:pt>
                <c:pt idx="2">
                  <c:v>Age</c:v>
                </c:pt>
                <c:pt idx="3">
                  <c:v>BMI</c:v>
                </c:pt>
                <c:pt idx="4">
                  <c:v>Glucose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0.0837</c:v>
                </c:pt>
                <c:pt idx="1">
                  <c:v>0.1429</c:v>
                </c:pt>
                <c:pt idx="2">
                  <c:v>0.1574</c:v>
                </c:pt>
                <c:pt idx="3">
                  <c:v>0.225</c:v>
                </c:pt>
                <c:pt idx="4">
                  <c:v>0.3909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ca28ec1-667c-4a62-b142-fc80afe3930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7315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80E2A"/>
          </a:solidFill>
          <a:ln w="12700">
            <a:solidFill>
              <a:srgbClr val="080E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TRƯỜNG ĐẠI HỌC SÀI GÒN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KHOA CÔNG NGHỆ THÔNG TIN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321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77724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Báo cáo môn Cơ Sở Trí Tuệ Nhân Tạo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457200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45643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vi-VN" altLang="en-US" sz="1300" b="1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Sinh viên thực hiện</a:t>
            </a:r>
            <a:r>
              <a:rPr lang="en-US" sz="1300" b="1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</a:t>
            </a:r>
            <a:r>
              <a:rPr lang="en-US" sz="1300" dirty="0">
                <a:solidFill>
                  <a:srgbClr val="BFC9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Dương Hạo Quang | Nguyễn Đức Tuấn | Đặng Ngô Minh Đăng | Ngô Kiều Đình Trung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2519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Nội Dung Trình Bày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251960" cy="658368"/>
          </a:xfrm>
          <a:prstGeom prst="rect">
            <a:avLst/>
          </a:prstGeom>
          <a:solidFill>
            <a:srgbClr val="EBF5FB"/>
          </a:solidFill>
          <a:ln w="508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87552"/>
            <a:ext cx="64008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404164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1: Thông tin chung về dữ liệu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764792"/>
            <a:ext cx="4251960" cy="658368"/>
          </a:xfrm>
          <a:prstGeom prst="rect">
            <a:avLst/>
          </a:prstGeom>
          <a:solidFill>
            <a:srgbClr val="EBF5FB"/>
          </a:solidFill>
          <a:ln w="5080">
            <a:solidFill>
              <a:srgbClr val="D5D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64792"/>
            <a:ext cx="64008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56232"/>
            <a:ext cx="404164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2: Phân tích khám phá dữ liệu (EDA)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4251960" cy="658368"/>
          </a:xfrm>
          <a:prstGeom prst="rect">
            <a:avLst/>
          </a:prstGeom>
          <a:solidFill>
            <a:srgbClr val="EBF5FB"/>
          </a:solidFill>
          <a:ln w="5080">
            <a:solidFill>
              <a:srgbClr val="D5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542032"/>
            <a:ext cx="64008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33472"/>
            <a:ext cx="404164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3: Mô tả bài toán – Input / Output / Độ đo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319272"/>
            <a:ext cx="4251960" cy="658368"/>
          </a:xfrm>
          <a:prstGeom prst="rect">
            <a:avLst/>
          </a:prstGeom>
          <a:solidFill>
            <a:srgbClr val="EBF5FB"/>
          </a:solidFill>
          <a:ln w="5080">
            <a:solidFill>
              <a:srgbClr val="D5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319272"/>
            <a:ext cx="64008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10712"/>
            <a:ext cx="404164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4: Tiền xử lý dữ liệu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4096512"/>
            <a:ext cx="4251960" cy="658368"/>
          </a:xfrm>
          <a:prstGeom prst="rect">
            <a:avLst/>
          </a:prstGeom>
          <a:solidFill>
            <a:srgbClr val="EBF5FB"/>
          </a:solidFill>
          <a:ln w="5080">
            <a:solidFill>
              <a:srgbClr val="D5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096512"/>
            <a:ext cx="64008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87952"/>
            <a:ext cx="404164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5: Rút trích đặc trưng (Feature Selection)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987552"/>
            <a:ext cx="4251960" cy="658368"/>
          </a:xfrm>
          <a:prstGeom prst="rect">
            <a:avLst/>
          </a:prstGeom>
          <a:solidFill>
            <a:srgbClr val="FEF9E7"/>
          </a:solidFill>
          <a:ln w="5080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987552"/>
            <a:ext cx="64008" cy="65836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078992"/>
            <a:ext cx="404164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6: Xây dựng và đánh giá mô hình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1764792"/>
            <a:ext cx="4251960" cy="658368"/>
          </a:xfrm>
          <a:prstGeom prst="rect">
            <a:avLst/>
          </a:prstGeom>
          <a:solidFill>
            <a:srgbClr val="FEF9E7"/>
          </a:solidFill>
          <a:ln w="5080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764792"/>
            <a:ext cx="64008" cy="65836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856232"/>
            <a:ext cx="404164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7: Thực nghiệm huấn luyện mô hình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2542032"/>
            <a:ext cx="4251960" cy="658368"/>
          </a:xfrm>
          <a:prstGeom prst="rect">
            <a:avLst/>
          </a:prstGeom>
          <a:solidFill>
            <a:srgbClr val="FEF9E7"/>
          </a:solidFill>
          <a:ln w="5080">
            <a:solidFill>
              <a:srgbClr val="D5D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542032"/>
            <a:ext cx="64008" cy="65836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633472"/>
            <a:ext cx="404164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8: Tìm tham số huấn luyện tối ưu (GridSearchCV)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54880" y="3319272"/>
            <a:ext cx="4251960" cy="658368"/>
          </a:xfrm>
          <a:prstGeom prst="rect">
            <a:avLst/>
          </a:prstGeom>
          <a:solidFill>
            <a:srgbClr val="FEF9E7"/>
          </a:solidFill>
          <a:ln w="5080">
            <a:solidFill>
              <a:srgbClr val="D5D8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319272"/>
            <a:ext cx="64008" cy="65836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410712"/>
            <a:ext cx="404164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9: Kết luận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Thông Tin Chung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Về Dữ Liệu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Bối Cảnh &amp; Nguồn Gốc Dữ Liệu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85039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Bộ dữ liệu: Pima Indians Diabetes Database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Nguồn: National Institute of Diabetes and Digestive and Kidney Diseases (NIDDK) – Hoa Kỳ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Đối tượng: Phụ nữ cộng đồng Pima Indian, ít nhất 21 tuổi, vùng Phoenix, Arizona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Đặc điểm nổi bật: Cộng đồng Pima Indian có tỷ lệ mắc tiểu đường Tuýp 2 cao nhất thế giới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Mục tiêu thu thập: Xây dựng công cụ sàng lọc tự động hỗ trợ phát hiện sớm bệnh tiểu đường từ chỉ số y tế cơ bản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Ứng dụng: Giảm phụ thuộc vào xét nghiệm chuyên sâu đắt tiền, hỗ trợ y tế cộng đồng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Biến Đầu Vào (Features – X)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20040" y="932688"/>
          <a:ext cx="85039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554480"/>
                <a:gridCol w="868680"/>
                <a:gridCol w="3566160"/>
                <a:gridCol w="100584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Tên biến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Kiểu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Mô tả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Đơn vị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Pregnancies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int64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Số lần mang thai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Lần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Glucose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int64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Nồng độ glucose huyết tương (2h sau OGTT)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mg/dL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BloodPressure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int64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Huyết áp tâm trương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mmHg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SkinThickness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int64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Độ dày nếp gấp da cơ tam đầu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mm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Insulin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int64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Nồng độ insulin huyết thanh 2h sau OGTT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 U/ml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BMI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float64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Chỉ số khối cơ thể (kg/m²)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kg/m²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DiabetesPFn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float64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Hàm phả hệ tiểu đường (mức độ nguy cơ di truyền)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int64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Tuổi bệnh nhân tại thời điểm khảo sát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Năm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462272"/>
            <a:ext cx="8503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Biến mục tiêu (Target y):  0 = Không mắc tiểu đường  |  1 = Mắc tiểu đường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Thống Kê Mô Tả – Code &amp; Kết Quả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8503920" cy="233172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850392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71016"/>
            <a:ext cx="8229600" cy="1911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description = df_dataset.describe().T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display(description)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Kết quả quan trọng: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- Glucose: min=0, max=199 → 5 giá trị 0 phi lý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- Insulin: min=0, max=846 → 373 giá trị 0 (~48.6%!)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- SkinThickness: min=0  → 227 giá trị 0 (~29.6%)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- BMI: min=0            → 11 giá trị 0 phi lý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20040" y="3364992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18872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Thuộc tính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Median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Max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Glucose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120.86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31.98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117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199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Insulin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79.90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115.28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846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SkinThickness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20.52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15.95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BMI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31.99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7.89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67.1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33.22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11.75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Phối Lớp &amp; Vấn Đề Mất Cân Bằng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303520" y="1005840"/>
          <a:ext cx="36576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960120"/>
            <a:ext cx="48463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Tổng: 767 mẫu hợp lệ (768 gốc - 1 header)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Lớp 0 – Không bệnh: 500 mẫu (65.19%)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Lớp 1 – Có bệnh: 267 mẫu (34.81%)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Tỷ lệ mất cân bằng: 1.87 : 1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Hệ quả: Mô hình 'lười' dự đoán lớp 0 đạt 65% Accuracy nhưng hoàn toàn vô nghĩa y tế!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Cần dùng F1-score &amp; ROC-AUC, không chỉ Accuracy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Cần xử lý mất cân bằng bằng SMOTE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Khám Phá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Dữ Liệu (EDA)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Kiểm Tra Tính Toàn Vẹn – Code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8503920" cy="393192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850392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71016"/>
            <a:ext cx="8229600" cy="3511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Kiểm tra Null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display(df_dataset.isnull().sum())  # → 0 trên tất cả cột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has_null = df_dataset.isnull().sum().any()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print(f'Có giá trị Null: {has_null}')  # False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Kiểm tra NaN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display(df_dataset.isna().sum())  # → 0 trên tất cả cột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has_nan = df_dataset.isna().sum().any()  # False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Kiểm tra Duplicated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n_dup = df_dataset.duplicated(keep=False).sum()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print(f'Số dòng trùng: {n_dup}')  # →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Phân phối Outcome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display(df_dataset['Outcome'].value_counts())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Outcome 0: 500  |  Outcome 1: 267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Phát Hiện Giá Trị 0 Phi Lý (Hidden Missing)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41705"/>
            <a:ext cx="8503920" cy="245999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850392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71016"/>
            <a:ext cx="8229600" cy="2596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zero_invalid_cols = ['Glucose','BloodPressure','SkinThickness','Insulin','BMI']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zero_counts = (df_dataset[zero_invalid_cols] == 0).sum()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zero_ratio  = (zero_counts / len(df_dataset) * 100).round(2)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df_zero_summary = pd.DataFrame({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'zero_count':          zero_counts,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'zero_ratio_percent':  zero_ratio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}).sort_values('zero_count', ascending=False)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display(df_zero_summary)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320040" y="3456178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384048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Cột Y tế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Số 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Tỷ lệ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Mức độ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Insulin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373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48.63%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⚠️ Nghiêm trọng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SkinThickness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227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29.60%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⚠️ Nghiêm trọng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BloodPressure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4.56%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Trung bình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BMI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1.43%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Nhẹ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Glucose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0.65%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Rất nhẹ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Biểu Đồ Countplot (Outcome)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96012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617720" y="960120"/>
            <a:ext cx="4206240" cy="256032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617720" y="960120"/>
            <a:ext cx="420624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00584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54880" y="1289304"/>
            <a:ext cx="3931920" cy="21396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sns.countplot(x=df_dataset['Outcome'])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plt.xlabel('Outcome')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plt.ylabel('Số lượng mẫu')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plt.title('Phân phối lớp Outcome')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plt.show()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Outcome 0: 500 (65.19%)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Outcome 1: 267 (34.81%)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3611880"/>
            <a:ext cx="4206240" cy="118872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3657600"/>
            <a:ext cx="402336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Nhận xét: Lớp 0 cao gấp ~1.87× lớp 1. Mô hình học máy sẽ thiên về dự đoán lớp 0 → cần SMOTE để cân bằng trên tập train.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Biểu Đồ Heatmap Tương Quan – Code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8503920" cy="393192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850392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71016"/>
            <a:ext cx="8229600" cy="3511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Xử lý 0 phi lý TRƯỚC KHI vẽ heatmap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df_clean = df_dataset.copy()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df_clean[zero_invalid_cols] = df_clean[zero_invalid_cols].replace(0, np.nan)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col in zero_invalid_cols: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df_clean[col] = df_clean[col].fillna(df_clean[col].median())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Vẽ heatmap tương quan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fig = plt.figure(figsize=(15, 9))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sns.heatmap(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df_clean.corr(),   # Ma trận tương quan Pearson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cmap='Blues',      # Gradient xanh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annot=True,        # Hiện số trong 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fmt='.2f',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linewidths=0.5,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plt.title('Correlation Heatmap — After 0-Imputation')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Heatmap – Tương Quan Với Outcome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320040" y="932688"/>
          <a:ext cx="8503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371600"/>
                <a:gridCol w="438912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Thuộc tính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Hệ số 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Mức độ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Nhận xét y tế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Glucose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0.4659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Cao nhất ⭐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Tiêu chí vàng chẩn đoán tiểu đường theo WHO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BMI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0.2927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Cao thứ 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Béo phì → kháng insulin → tiểu đường T2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0.2364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Trung bình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Nguy cơ tăng sau 40 tuổi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Pregnancies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0.2211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Trung bình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Liên quan tiểu đường thai kỳ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DiabetesPFn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0.1732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Nhẹ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Yếu tố di truyền có vai trò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Insulin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0.1320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Yếu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Phản ánh chức năng tuyến tụy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SkinThickness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0.0733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Rất yếu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Ít giá trị dự báo trong bộ dữ liệu này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BloodPressure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0.0649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Rất yếu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Huyết áp đơn lẻ ít dự báo tiểu đường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Mô Tả Bài Toán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/ Output / Mục Tiêu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8862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114800" cy="2468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87552"/>
            <a:ext cx="389534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🔵  INPUT (X)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307592"/>
            <a:ext cx="3895344" cy="3429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 đầu: 8 đặc trưng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[Pregnancies, Glucose, BloodPressure,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SkinThickness, Insulin, BMI,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DiabetesPFn, Age]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Sau Feature Selection (k=5):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[Glucose, BMI, Age, Insulin,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Pregnancies]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4160520" cy="3886200"/>
          </a:xfrm>
          <a:prstGeom prst="rect">
            <a:avLst/>
          </a:prstGeom>
          <a:solidFill>
            <a:srgbClr val="FEF9E7"/>
          </a:solidFill>
          <a:ln w="6350">
            <a:solidFill>
              <a:srgbClr val="F9E79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960120"/>
            <a:ext cx="4160520" cy="24688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987552"/>
            <a:ext cx="394106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 OUTPUT (y)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1307592"/>
            <a:ext cx="3941064" cy="3429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Nhãn nhị phân y ∈ {0, 1}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y = 0 → Không mắc tiểu đường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y = 1 → Mắc tiểu đường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Bài toán: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Classification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(Phân loại nhị phân)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Mục tiêu: Pipeline hoàn chỉnh LR / DT / RF / SVM → So sánh → GridSearch tối ưu → Tối đa F1 &amp; Recall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Bộ 6 Độ Đo Đánh Giá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320040" y="932688"/>
          <a:ext cx="8503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3474720"/>
                <a:gridCol w="137160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Độ đo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Công thức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Ý nghĩa y tế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Ưu tiên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Accuracy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(TP+TN)/N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Đúng tổng thể — hạn chế khi mất cân bằng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Thấp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Precision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TP/(TP+FP)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Trong số báo có bệnh → bao nhiêu đúng (tránh báo nhầm)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Trung bình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Recall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TP/(TP+FN)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Trong số có bệnh → phát hiện bao nhiêu (không bỏ sót)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⭐ Cao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F1-score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2×P×R/(P+R)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Cân bằng Precision &amp; Recall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⭐ Cao nhất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ROC-AUC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Tích phân ROC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Phân tách 2 lớp trên toàn bộ ngưỡng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⭐ Cao nhất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PR-AUC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Tích phân PR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Hiệu quả trên dữ liệu mất cân bằng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⭐ Cao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Tiền Xử Lý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Dữ Liệu</a:t>
            </a:r>
            <a:endParaRPr lang="en-US" sz="3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Chia Train / Test – Code &amp; Kết Quả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8503920" cy="324612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850392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71016"/>
            <a:ext cx="8229600" cy="28254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sklearn.model_selection import train_test_split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numpy as np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index_train, index_test = train_test_split(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np.arange(len(df_org)),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test_size=0.33,                 # 33% 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random_state=42,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stratify=df_org['Outcome']      # Giữ nguyên tỷ lệ lớp!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df_train = df_org.iloc[index_train].copy()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df_test  = df_org.iloc[index_test].copy()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Train: (514, 9)  |  Test: (254, 9)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320040" y="4251960"/>
          <a:ext cx="8503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280160"/>
                <a:gridCol w="1280160"/>
                <a:gridCol w="310896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Tập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Mẫu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Lớp 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Lớp 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Tỷ lệ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Train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514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335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179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65.2% / 34.8%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65.0% / 35.0%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Median Imputation – Code 3 Bước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8503920" cy="402336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850392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71016"/>
            <a:ext cx="8229600" cy="36027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medical_zero_cols = ['Glucose','BloodPressure','SkinThickness','Insulin','BMI']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BƯỚC 1: Thay 0 → NaN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df_train_clean[medical_zero_cols] = df_train_clean[medical_zero_cols].replace(0, np.nan)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df_test_clean[medical_zero_cols]  = df_test_clean[medical_zero_cols].replace(0, np.nan)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BƯỚC 2: Tính median TỪ TRAIN (không dùng test!)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median_values = df_train_clean[medical_zero_cols].median()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BƯỚC 3: Điền median vào cả train và 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df_train_clean[medical_zero_cols] = df_train_clean[medical_zero_cols].fillna(median_values)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df_test_clean[medical_zero_cols]  = df_test_clean[medical_zero_cols].fillna(median_values)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Kiểm tra: số 0 còn lại = 0 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print((df_train_clean[medical_zero_cols] == 0).sum())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Leakage – Cách SAI vs Cách ĐÚNG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8862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114800" cy="2468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87552"/>
            <a:ext cx="389534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Cách SAI (có Leakage)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307592"/>
            <a:ext cx="3895344" cy="3429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Imputer:  fit(X_all)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Scaler:   fit(X_all)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Selector: fit(X_all)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SMOTE:    fit_resample(X_all)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Thông tin TEST rò rỉ vào train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Mô hình 'gian lận' — đánh giá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quá lạc quan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Thất bại trong production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4160520" cy="3886200"/>
          </a:xfrm>
          <a:prstGeom prst="rect">
            <a:avLst/>
          </a:prstGeom>
          <a:solidFill>
            <a:srgbClr val="FEF9E7"/>
          </a:solidFill>
          <a:ln w="6350">
            <a:solidFill>
              <a:srgbClr val="F9E79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960120"/>
            <a:ext cx="4160520" cy="24688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987552"/>
            <a:ext cx="394106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Cách ĐÚNG (không Leakage)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1307592"/>
            <a:ext cx="3941064" cy="3429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Imputer:  fit(X_train)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Scaler:   fit(X_train)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Selector: fit(X_train)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SMOTE:    trong Pipeline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(chỉ train fold)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Kết quả đáng tin cậy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Mô phỏng đúng production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Chuẩn Hóa Dữ Liệu – StandardScaler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8503920" cy="393192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850392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34516"/>
            <a:ext cx="8229600" cy="3511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sklearn.preprocessing import StandardScaler, MinMaxScaler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joblib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scale_columns = ['Pregnancies','Glucose','BloodPressure','SkinThickness',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'Insulin','BMI','DiabetesPedigreeFunction','Age']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StandardScaler: z = (x - mean) / std → mean=0, std=1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standard_scaler = StandardScaler()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standard_scaler.fit(df_train_clean[scale_columns])  # CHỈ FIT TRÊN TRAIN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df_train_std[scale_columns] = standard_scaler.transform(df_train_clean[scale_columns])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df_test_std[scale_columns]  = standard_scaler.transform(df_test_clean[scale_columns])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Lưu scaler để dùng lại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joblib.dump(standard_scaler, f'{save_dir}/standard_scaler.joblib')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Rút Trích Đặc Trưng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(Feature Selection)</a:t>
            </a:r>
            <a:endParaRPr lang="en-US" sz="3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SelectKBest – Code Chi Tiết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8503920" cy="393192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850392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71016"/>
            <a:ext cx="8229600" cy="3511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sklearn.feature_selection import SelectKBest, f_classif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X_train_scaled = df_train_std[scale_columns].values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y_train        = df_train_std['Outcome'].values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f_classif: ANOVA F-test — F-score cao → phân biệt 2 lớp tốt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selector = SelectKBest(score_func=f_classif, k=5)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Fit TRÊN TRAIN, TRƯỚC KHI SMOTE (tránh leakage!)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selector.fit(X_train_scaled, y_train)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X_train_selected = selector.transform(X_train_scaled)  # (514, 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X_test_selected  = selector.transform(X_test_scaled)   # (254, 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Lưu selector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joblib.dump(selector, f'{save_dir}/selector_kbest.joblib')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Đặc Trưng Được Chọn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1645920" cy="3566160"/>
          </a:xfrm>
          <a:prstGeom prst="rect">
            <a:avLst/>
          </a:prstGeom>
          <a:solidFill>
            <a:srgbClr val="EBF5FB"/>
          </a:solidFill>
          <a:ln w="508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1645920" cy="2468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61872"/>
            <a:ext cx="1645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Glucose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304288"/>
            <a:ext cx="1554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r=0.466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2633472"/>
            <a:ext cx="150876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Tiêu chí vàng chẩn đoán tiểu đường theo WHO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7400" y="987552"/>
            <a:ext cx="1645920" cy="3566160"/>
          </a:xfrm>
          <a:prstGeom prst="rect">
            <a:avLst/>
          </a:prstGeom>
          <a:solidFill>
            <a:srgbClr val="EBF5FB"/>
          </a:solidFill>
          <a:ln w="508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57400" y="987552"/>
            <a:ext cx="1645920" cy="2468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1261872"/>
            <a:ext cx="1645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03120" y="1810512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03120" y="2304288"/>
            <a:ext cx="1554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r=0.293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30552" y="2633472"/>
            <a:ext cx="150876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Béo phì → kháng insulin → tiểu đường T2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94760" y="987552"/>
            <a:ext cx="1645920" cy="3566160"/>
          </a:xfrm>
          <a:prstGeom prst="rect">
            <a:avLst/>
          </a:prstGeom>
          <a:solidFill>
            <a:srgbClr val="EBF5FB"/>
          </a:solidFill>
          <a:ln w="508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94760" y="987552"/>
            <a:ext cx="1645920" cy="24688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261872"/>
            <a:ext cx="1645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40480" y="1810512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40480" y="2304288"/>
            <a:ext cx="1554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C0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r=0.236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67912" y="2633472"/>
            <a:ext cx="150876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Nguy cơ tích lũy theo tuổi, đặc biệt sau 40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32120" y="987552"/>
            <a:ext cx="1645920" cy="3566160"/>
          </a:xfrm>
          <a:prstGeom prst="rect">
            <a:avLst/>
          </a:prstGeom>
          <a:solidFill>
            <a:srgbClr val="EBF5FB"/>
          </a:solidFill>
          <a:ln w="508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32120" y="987552"/>
            <a:ext cx="1645920" cy="2468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1261872"/>
            <a:ext cx="1645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77840" y="1810512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Insulin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77840" y="2304288"/>
            <a:ext cx="1554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r=0.132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05272" y="2633472"/>
            <a:ext cx="150876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Phản ánh chức năng tuyến tụy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69480" y="987552"/>
            <a:ext cx="1645920" cy="3566160"/>
          </a:xfrm>
          <a:prstGeom prst="rect">
            <a:avLst/>
          </a:prstGeom>
          <a:solidFill>
            <a:srgbClr val="EBF5FB"/>
          </a:solidFill>
          <a:ln w="508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69480" y="987552"/>
            <a:ext cx="1645920" cy="24688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1261872"/>
            <a:ext cx="1645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D3C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15200" y="1810512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Pregnancies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5200" y="2304288"/>
            <a:ext cx="1554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3C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r=0.221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42632" y="2633472"/>
            <a:ext cx="150876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Liên quan tiểu đường thai kỳ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4645152"/>
            <a:ext cx="8503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features bị loại: BloodPressure, SkinThickness, DiabetesPFn (F-score thấp)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SMOTE – Cân Bằng Lớp Trong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35482"/>
            <a:ext cx="8503920" cy="393192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850392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71016"/>
            <a:ext cx="8229600" cy="3511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imblearn.pipeline import Pipeline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imblearn.over_sampling import SMOTE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SMOTE tạo mẫu tổng hợp bằng nội suy giữa mẫu lân cận (k-NN)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KHÔNG phải chỉ nhân đôi mẫu → tránh overfitting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SMOTE trong Pipeline: chỉ áp dụng trên phần TRAIN của mỗi fold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pipeline = Pipeline([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('smote', SMOTE(random_state=42)),   # Cân bằng lớp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('model', RandomForestClassifier())   # Huấn luyện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Cross-validation đúng cách: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kfold = KFold(n_splits=5, shuffle=True, random_state=42)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scores = cross_val_score(pipeline, X_train, y_train, cv=kfold)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SMOTE chỉ trong train fold, không chạm validation fold 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Xây Dựng &amp;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Đánh Giá Mô Hình</a:t>
            </a:r>
            <a:endParaRPr lang="en-US" sz="3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Mô Hình Baseline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/>
        </p:nvGraphicFramePr>
        <p:xfrm>
          <a:off x="320040" y="932688"/>
          <a:ext cx="85039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3200400"/>
                <a:gridCol w="237744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Mô hình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Ký hiệu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Nguyên lý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Tham số mặc định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Logistic Regression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Hàm sigmoid phân loại xác suất tuyến tính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max_iter=1000, C=1.0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Decision Tree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Phân nhánh theo Gini impurity/Entropy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criterion=gini, max_depth=None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Random Forest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RF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Ensemble: tổ hợp nhiều cây DT (Bagging)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n_estimators=100, max_features=sqrt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SVM kernel RBF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SVM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Siêu phẳng tối ưu với kernel phi tuyến RBF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kernel=rbf, C=1.0, gamma=scale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730752"/>
            <a:ext cx="850392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[SMOTE → Model] đảm bảo không bị Data Leakage trong Cross-Validation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Mỗi mô hình: đánh giá 5-Fold CV trên train → đánh giá 6 độ đo trên test set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Huấn Luyện &amp; Hàm Đánh Giá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8503920" cy="393192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850392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71016"/>
            <a:ext cx="8229600" cy="3511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baseline_models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'LR':  LogisticRegression(max_iter=1000, random_state=42),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'DT':  DecisionTreeClassifier(random_state=42),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'RF':  RandomForestClassifier(random_state=42),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'SVM': SVC(kernel='rbf', probability=True, random_state=42),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name, model in baseline_models.items():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pipe = Pipeline([('smote', SMOTE(random_state=42)), ('model', model)])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cv = cross_val_score(pipe, X_train, y_train, cv=kfold, scoring='accuracy')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pipe.fit(X_train, y_train)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results['models'][name] = pipe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evaluate_model(model, X, y):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y_pred = model.predict(X)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y_score = model.predict_proba(X)[:,1]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{'F1': f1_score(y,y_pred), 'ROC_AUC': roc_auc_score(y,y_score), ...}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Quả Cross-Validation 5-Fold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/>
        </p:nvGraphicFramePr>
        <p:xfrm>
          <a:off x="320040" y="932688"/>
          <a:ext cx="8503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737360"/>
                <a:gridCol w="265176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Mô hình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CV Accuracy (Mean)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CV Accuracy (Std)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Nhận xét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Logistic Regression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0.7548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±0.0260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Ổn định nhất — std nhỏ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Decision Tree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0.6847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±0.0460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Thấp nhất, biến động lớn → dấu hiệu overfit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Random Forest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0.7665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±0.0324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Tốt, ổn định nhờ bagging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SVM (RBF)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0.7762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±0.0397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Cao nhất trong 5-Fold CV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457200" y="3017520"/>
          <a:ext cx="82296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Quả Đánh Giá Trên Tập Test – 6 Độ Đo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/>
        </p:nvGraphicFramePr>
        <p:xfrm>
          <a:off x="320040" y="932688"/>
          <a:ext cx="8503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1005840"/>
                <a:gridCol w="1005840"/>
                <a:gridCol w="1005840"/>
                <a:gridCol w="1097280"/>
                <a:gridCol w="100584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Mô hình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Accuracy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Precision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Recall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ROC-AUC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PR-AUC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0.7362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0.6058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0.7079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0.6528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0.8247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0.6865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0.7008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0.5802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0.5281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0.5529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0.6610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0.4718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RF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0.7323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0.6180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0.6180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0.6180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0.8159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0.6806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SVM ⭐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0.7598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0.6373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0.7303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0.6806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0.8389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0.6966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457200" y="3090672"/>
          <a:ext cx="82296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Vẽ ROC Curve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8503920" cy="393192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850392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71016"/>
            <a:ext cx="8229600" cy="3511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plt.figure(figsize=(8, 6))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model_name, model in baseline_results['models'].items():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hasattr(model, 'predict_proba'):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y_score = model.predict_proba(X_test)[:, 1]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elif hasattr(model, 'decision_function'):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y_score = model.decision_function(X_test)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fpr, tpr, _ = roc_curve(y_test, y_score)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auc_val = roc_auc_score(y_test, y_score)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plt.plot(fpr, tpr, linewidth=2,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label=f'{model_name} (AUC={auc_val:.3f})')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plt.plot([0,1],[0,1], '--', color='gray', label='Random Baseline')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plt.xlabel('False Positive Rate')  # 1 - Specificity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plt.ylabel('True Positive Rate')   # Recall / Sensitivity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plt.title('ROC Curve — 4 Baseline Models')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plt.legend(loc='lower right')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Thực Nghiệm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Huấn Luyện Mô Hình</a:t>
            </a:r>
            <a:endParaRPr lang="en-US" sz="3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Dữ Liệu &amp; Code Confusion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8503920" cy="393192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850392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71016"/>
            <a:ext cx="8229600" cy="3511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Load dữ liệu đã tiền xử lý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train_data = np.load(params['train_feat_path'])  # feat_standard.npz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X_train = train_data['x_train']  # (514, 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y_train = train_data['y_train'].astype(int)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X_test  = np.load(params['test_feat_path'])['x_test']  # (254, 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Confusion Matrix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sklearn.metrics import confusion_matrix, ConfusionMatrixDisplay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best_pred = rf_best.predict(X_test)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cm = confusion_matrix(y_test, best_pred)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print('Confusion Matrix:')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print(cm)  # [[TN FP] / [FN TP]]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 = ConfusionMatrixDisplay(confusion_matrix=cm,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display_labels=['Không bệnh (0)', 'Có bệnh (1)'])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disp.plot(cmap='Blues')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Confusion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/>
        </p:nvGraphicFramePr>
        <p:xfrm>
          <a:off x="320040" y="932688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292608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Dự đoán: 0 (Không bệnh)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Dự đoán: 1 (Có bệnh)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Thực tế: 0 (Không bệnh)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TN — Đúng âm tính ✅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FP — Báo nhầm ⚠️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Thực tế: 1 (Có bệnh)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FN — BỎ SÓT bệnh nhân ❌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TP — Đúng dương tính ✅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2880360"/>
            <a:ext cx="850392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TP: Phát hiện đúng bệnh nhân có bệnh — kết quả lý tưởng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TN: Xác nhận đúng người lành — kết quả lý tưởng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 (Báo nhầm): Người lành bị nghi bệnh → lo lắng, chi phí xét nghiệm thêm. Ít nguy hiểm.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 (Bỏ sót): Người bệnh bị phán đoán lành mạnh → không điều trị kịp thời → biến chứng nguy hiểm!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Tối thiểu hóa FN = Tối đa hóa Recall — đây là mục tiêu số 1 trong y tế sàng lọc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Từng Mô Hình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/>
        </p:nvGraphicFramePr>
        <p:xfrm>
          <a:off x="320040" y="932688"/>
          <a:ext cx="8595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822960"/>
                <a:gridCol w="1097280"/>
                <a:gridCol w="429768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Mô hình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Recall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ROC-AUC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Nhận xét chi tiết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0.6528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0.7079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0.8247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Recall cao thứ 2. ROC-AUC tốt do xác suất được hiệu chỉnh (calibrated) tốt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0.5529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0.5281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0.6610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Tệ nhất. max_depth=None → overfit nghiêm trọng. CV std=0.046 lớn nhất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RF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0.6180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0.6180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0.8159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P=R=F1=0.618 — tham số mặc định chưa tối ưu. Tiềm năng cải thiện qua tuning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SVM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0.6806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0.7303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0.8389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Tốt nhất baseline. Kernel RBF học biên phi tuyến phức tạp hiệu quả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Tìm Tham Số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Tối Ưu (GridSearchCV)</a:t>
            </a:r>
            <a:endParaRPr lang="en-US" sz="3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GridSearchCV – Pipeline RF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8503920" cy="393192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850392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71016"/>
            <a:ext cx="8229600" cy="3511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sklearn.model_selection import GridSearchCV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rf_params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'model__n_estimators':     [100, 200, 300],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'model__max_depth':         [None, 5, 10],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'model__min_samples_split': [2, 5, 10],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'model__min_samples_leaf':  [1, 2, 4],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 # 3×3×3×3 = 81 tổ hợp × 5 folds = 405 lần train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rf_pipeline = Pipeline([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('smote', SMOTE(random_state=42)),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('model', RandomForestClassifier(random_state=42))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rf_grid = GridSearchCV(rf_pipeline, rf_params,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scoring='f1', cv=kfold, n_jobs=-1, refit=True)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rf_grid.fit(X_train, y_train)  # 405 lần!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rf_best = rf_grid.best_estimator_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print('Best params:', rf_grid.best_params_)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print('Best CV F1:',  rf_grid.best_score_)  # 0.7037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Tham Số Tốt Nhất &amp; Kết Quả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/>
        </p:nvGraphicFramePr>
        <p:xfrm>
          <a:off x="320040" y="932688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384048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Siêu tham số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Mặc định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Tốt nhất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Ý nghĩa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n_estimators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Nhiều cây hơn → ổn định, variance thấp hơn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max_depth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 (∞)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Giới hạn độ sâu → chống overfit hiệu quả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min_samples_split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Giữ nguyên — tách node linh hoạt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min_samples_leaf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Giữ nguyên — lá nhỏ bắt pattern chi tiết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218688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0040" y="3931920"/>
            <a:ext cx="85039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 tổ hợp tham số × 5 folds = 405 lần train (song song n_jobs=-1)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đảm bảo SMOTE trong mỗi fold — không bị Data Leakage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Sánh Tổng Kết: Baseline vs RF Tuned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/>
        </p:nvGraphicFramePr>
        <p:xfrm>
          <a:off x="320040" y="932688"/>
          <a:ext cx="85039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60120"/>
                <a:gridCol w="960120"/>
                <a:gridCol w="1005840"/>
                <a:gridCol w="960120"/>
                <a:gridCol w="1097280"/>
                <a:gridCol w="96012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Mô hình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Accuracy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Precision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Recall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ROC-AUC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PR-AUC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0.7362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0.6058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0.7079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0.6528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0.8247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0.6865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0.7008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0.5802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0.5281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0.5529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0.6610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0.4718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RF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0.7323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0.6180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0.6180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0.6180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0.8159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0.6806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SVM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0.7598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0.6373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0.7303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0.6806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0.8389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0.6966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RF Tuned ⭐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0.7480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0.6106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0.7753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0.6832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0.8455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0.7104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457200" y="3200400"/>
          <a:ext cx="82296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Importance – Code Impurity &amp; Permutation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8503920" cy="393192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850392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71016"/>
            <a:ext cx="8229600" cy="3511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sklearn.inspection import permutation_importance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1. Impurity Importance (Gini) — built-in RF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rf_model = rf_best.named_steps['model']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rf_importance_df = pd.DataFrame({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'Feature':    feature_names,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'Importance': rf_model.feature_importances_,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}).sort_values('Importance', ascending=False)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2. Permutation Importance — khách quan hơn, test trên X_test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perm = permutation_importance(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rf_best, X_test, y_test,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scoring='f1',      # Dùng F1-score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n_repeats=10,      # Lặp 10 lần để ổn định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random_state=42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Kết quả: Glucose và BMI luôn đứng đầu cả 2 phương pháp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Importance – Kết Quả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960120"/>
          <a:ext cx="48463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3" name="Table 0"/>
          <p:cNvGraphicFramePr>
            <a:graphicFrameLocks noGrp="1"/>
          </p:cNvGraphicFramePr>
          <p:nvPr/>
        </p:nvGraphicFramePr>
        <p:xfrm>
          <a:off x="5349240" y="960120"/>
          <a:ext cx="3678555" cy="2133600"/>
        </p:xfrm>
        <a:graphic>
          <a:graphicData uri="http://schemas.openxmlformats.org/drawingml/2006/table">
            <a:tbl>
              <a:tblPr/>
              <a:tblGrid>
                <a:gridCol w="391160"/>
                <a:gridCol w="1017905"/>
                <a:gridCol w="860425"/>
                <a:gridCol w="1409065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#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Score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Nhận xét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Glucose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0.3909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Quan trọng nhất (39.1%)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BMI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0.2250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Quan trọng thứ 2 (22.5%)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0.1574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Quan trọng thứ 3 (15.7%)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Insulin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0.1429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14.3%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Pregnancies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0.0837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Thấp nhất (8.4%)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Pipeline Hoàn Chỉnh &amp; Lưu Mô Hình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8503920" cy="3931920"/>
          </a:xfrm>
          <a:prstGeom prst="rect">
            <a:avLst/>
          </a:prstGeom>
          <a:solidFill>
            <a:srgbClr val="0D1B2E"/>
          </a:solidFill>
          <a:ln w="12700">
            <a:solidFill>
              <a:srgbClr val="1A27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850392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D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71016"/>
            <a:ext cx="8229600" cy="3511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PIPELINE HOÀN CHỈNH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B1: Load CSV → B2: Chia train/test → B3: 0→NaN→median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B4: StandardScaler → B5: SelectKBest → B6: SMOTE+RF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pipeline = Pipeline([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('smote', SMOTE(random_state=42)),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('model', RandomForestClassifier(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n_estimators=200, max_depth=5,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min_samples_split=2, min_samples_leaf=1,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random_state=42))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pipeline.fit(X_train_sel, y_train)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y_pred = pipeline.predict(X_test_sel)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Lưu mô hình tốt nhất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joblib.dump(rf_best, '../models/best_model.pkl')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Load &amp; dự đoán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loaded = joblib.load('../models/best_model.pkl')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proba = loaded.predict_proba(new_sample)[:,1]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Luận</a:t>
            </a:r>
            <a:endParaRPr lang="en-US" sz="3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Tổng Kết 4 Câu Hỏi Nghiên Cứu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/>
        </p:nvGraphicFramePr>
        <p:xfrm>
          <a:off x="320040" y="932688"/>
          <a:ext cx="85039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21208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Câu hỏi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Kết quả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Q1: F1 cao nhất?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SVM đạt F1=0.681 (baseline). RF Tuned: F1=0.683 (+10.5% so với RF gốc)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Q2: Thứ hạng thay đổi khi thêm ROC-AUC?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Không đổi. SVM dẫn đầu baseline. RF Tuned: ROC-AUC cao nhất (0.846)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Q3: Feature quan trọng nhất?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Glucose (39.1%) &amp; BMI (22.5%) — nhất quán Impurity + Permutation + Heatmap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Q4: SMOTE cải thiện Recall?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Có. RF Tuned Recall=0.775 (+25.4% so với RF Baseline 0.618)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Đóng Góp &amp; Hạn Chế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8862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114800" cy="2468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87552"/>
            <a:ext cx="389534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Đóng góp chính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307592"/>
            <a:ext cx="3895344" cy="3429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Pipeline chặt chẽ — chống Data Leakage ở mọi bước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SMOTE trong Pipeline — đúng cách trong CV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Đánh giá 6 độ đo — phản ánh thực tế y tế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GridSearchCV 81 tổ hợp — RF Tuned tối ưu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Feature Importance 2 phương pháp — kết luận tin cậy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4160520" cy="3886200"/>
          </a:xfrm>
          <a:prstGeom prst="rect">
            <a:avLst/>
          </a:prstGeom>
          <a:solidFill>
            <a:srgbClr val="FEF9E7"/>
          </a:solidFill>
          <a:ln w="6350">
            <a:solidFill>
              <a:srgbClr val="F9E79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960120"/>
            <a:ext cx="4160520" cy="24688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987552"/>
            <a:ext cx="394106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Hạn chế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1307592"/>
            <a:ext cx="3941064" cy="3429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Dataset nhỏ (767 mẫu) — chưa đủ tổng quát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Insulin 48.6% missing — median impute đơn giản (cần MICE)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Chỉ 1 nhóm dân tộc — bias khi áp dụng khác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Chưa tối ưu threshold (mặc định p=0.5)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Chưa deploy lên web app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Hướng Phát Triển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Lớp Dữ Liệu Bệnh Tiểu Đường  |  ĐH Sài Gòn  |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85039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Cải tiến ngắn hạn:</a:t>
            </a:r>
            <a:endParaRPr lang="en-US" sz="14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Optimization: Tối ưu ngưỡng quyết định theo đường ROC/PR</a:t>
            </a:r>
            <a:endParaRPr lang="en-US" sz="14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MICE Imputation: Thay median imputation cho Insulin (48.6% missing)</a:t>
            </a:r>
            <a:endParaRPr lang="en-US" sz="14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Engineering: Glucose/BMI ratio, Age×Pregnancies, log(Insulin+1)</a:t>
            </a:r>
            <a:endParaRPr lang="en-US" sz="14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Calibration: Hiệu chỉnh xác suất đầu ra (Platt Scaling)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Nghiên cứu dài hạn:</a:t>
            </a:r>
            <a:endParaRPr lang="en-US" sz="14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XGBoost, LightGBM, CatBoost — gradient boosting mạnh hơn RF trên tabular data</a:t>
            </a:r>
            <a:endParaRPr lang="en-US" sz="14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AI (SHAP) — giải thích từng dự đoán cho bác sĩ</a:t>
            </a:r>
            <a:endParaRPr lang="en-US" sz="14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App: Flask/FastAPI + Docker — bác sĩ nhập chỉ số và nhận kết quả real-time</a:t>
            </a:r>
            <a:endParaRPr lang="en-US" sz="14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Thu thập dữ liệu đa dân tộc, đa địa lý — tăng tính tổng quát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20632</Words>
  <Application>WPS Presentation</Application>
  <PresentationFormat>On-screen Show (16:9)</PresentationFormat>
  <Paragraphs>1441</Paragraphs>
  <Slides>46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9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Lớp Dữ Liệu Bệnh Tiểu Đường</dc:title>
  <dc:creator>PptxGenJS</dc:creator>
  <dc:subject>PptxGenJS Presentation</dc:subject>
  <cp:lastModifiedBy>Nguyễn Đức Tuấn</cp:lastModifiedBy>
  <cp:revision>7</cp:revision>
  <dcterms:created xsi:type="dcterms:W3CDTF">2026-04-02T14:03:00Z</dcterms:created>
  <dcterms:modified xsi:type="dcterms:W3CDTF">2026-04-02T14:51:37Z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E900ECD80CEE4EE49918E05662A9D546_12</vt:lpwstr>
  </property>
</Properties>
</file>